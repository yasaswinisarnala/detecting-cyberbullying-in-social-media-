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0" r:id="rId3"/>
    <p:sldId id="258" r:id="rId4"/>
    <p:sldId id="259" r:id="rId5"/>
    <p:sldId id="264" r:id="rId6"/>
    <p:sldId id="265" r:id="rId7"/>
    <p:sldId id="262" r:id="rId8"/>
    <p:sldId id="261" r:id="rId9"/>
    <p:sldId id="263" r:id="rId10"/>
    <p:sldId id="268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427A79-FBCB-458A-9C7C-915C18F8581C}" v="1" dt="2025-12-16T14:12:45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4AA5A-624F-39CF-6DAA-A60B6F6DE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FAD16-EC44-EED9-45E9-7F95D7CE2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3E8EB-7CDD-7AB9-CFCB-C515DC6A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960C2-E5BC-EDA9-EA1E-2F956390A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BEE3C-25B8-BFF7-E7C3-2B6A2547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171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FD10-6917-BD4D-14F0-6AB16B2D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B4102-89DA-40DB-22E0-4EA1808EC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D9563-75CC-EAE7-7BFC-5CE364F34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F529F-DEB3-5FEA-A0CA-1D960A88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A36E8-504D-59E6-919B-B8DD9CC31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28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81174-D8E7-C934-DF9F-86A985D34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4A15C-D1A5-4265-AAD6-A6A071A24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4F85-DB69-39B8-BEDA-23A5BB83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44015-5FDE-AC2E-1182-27C70C44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5CCCF-6CD5-B2E6-02E5-4B52EE34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81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C246A-E983-86EF-5577-BEAAAE4C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A53CA-3FFF-54CA-18DB-4604CFC39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EDFB4-F248-A023-0D11-544C9D39B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702C1-AF56-BFDC-ACF8-71DF8573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A5F02-247D-C067-B076-76394D7C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8362E-96F2-D639-22B5-1637C806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94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BDFA-2C51-5DFB-A749-9BD3BE76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684DF-2593-095D-96C4-F39A913D8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76EB3D-1370-804C-3EF5-815D4510E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7647E-6CD0-BD21-2BEB-2CF447BF4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235CD-D9CC-5284-ADF2-02DAD3516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7ACBA5-661C-0776-0484-6B5E63B68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32F9F0-BC4C-5D57-2770-CCD22169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695CA7-11B9-6127-1169-4A95AB87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0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82E3-2409-1046-F73B-B6D678FB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0DDD9F-AA83-436A-0F31-CFC3E99FE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C49B9-5629-48DA-32F0-1A9B7D4F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63AA4-725A-0A42-5BB2-FF3E28D6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9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52462-903D-1AC4-DEA6-EC220589E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182B5-8E3A-2E7B-A9C0-07134EFA7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66DCE-75FA-10C5-F574-0E19A5F2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3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BBDC-EA8E-6C7F-40E5-3C99CD00F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314BE-C373-65CE-BD82-FE678B06D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30222-A1EB-5BE7-F924-D3C9D3AF2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02753-624F-6648-B096-80A80A9E2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5D365-D621-8E0D-D7E3-156BDBEA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50AB5-A968-EE89-9FBC-835CE03F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58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9080-0E99-F088-6B63-165C73D7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F35112-D0F2-6FD9-88B6-4B874D876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D16A8-58C6-DD97-3796-CA6B8829B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D1271-88E8-F8DE-C4AF-56166CAE1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12051-A92D-5DB7-500B-210F3243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9275-516E-01B3-83B1-BDF084E5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73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A6C24-AAA4-3DFF-8147-AF2DCDA5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13380-BED1-7C2C-EE88-CCA46493C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EADE2-D2C9-5DB9-44E1-41EAF4E8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AAD0D-4954-752F-8E6F-8184B92B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C75B4-9DF8-DAB9-D38F-A3D894268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65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E5DE5-BF33-80A3-E4CF-31E44FF16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1D500-4506-BD4E-09E2-089961CD3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2CF8D-AF94-37A5-859A-6670DDAF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B5C34-57D3-93A2-6974-61A85C008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4D41B-4C6E-F715-BABB-CA1274B1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0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67821-C7C3-E7A2-2DE5-0965BD54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827EE-F25A-76BB-7CCF-388B610B3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9EE85-53BA-2086-CF45-5EDF5355E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8501C-7002-479D-9774-B1399301BAA9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A01D-CE61-8ADC-AA75-ED7E0A9B2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FDE8E-97F2-6054-4FC0-9795FBFF9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2443E-BA74-4F54-9C7F-68CBBBF76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52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602FBC0-D846-3453-F9DA-89DF02B315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61"/>
          <a:stretch>
            <a:fillRect/>
          </a:stretch>
        </p:blipFill>
        <p:spPr>
          <a:xfrm>
            <a:off x="6856511" y="0"/>
            <a:ext cx="5335489" cy="6857997"/>
          </a:xfrm>
          <a:prstGeom prst="rect">
            <a:avLst/>
          </a:prstGeom>
        </p:spPr>
      </p:pic>
      <p:sp>
        <p:nvSpPr>
          <p:cNvPr id="5" name="文本框">
            <a:extLst>
              <a:ext uri="{FF2B5EF4-FFF2-40B4-BE49-F238E27FC236}">
                <a16:creationId xmlns:a16="http://schemas.microsoft.com/office/drawing/2014/main" id="{03895B3C-80E5-EC4C-9222-96D2D739BAE9}"/>
              </a:ext>
            </a:extLst>
          </p:cNvPr>
          <p:cNvSpPr txBox="1">
            <a:spLocks/>
          </p:cNvSpPr>
          <p:nvPr/>
        </p:nvSpPr>
        <p:spPr>
          <a:xfrm>
            <a:off x="2209800" y="2146162"/>
            <a:ext cx="7772400" cy="1470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rtlCol="0" anchor="ctr" anchorCtr="0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4400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Detecting Cyberbullying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4400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in Social Media</a:t>
            </a:r>
            <a:endParaRPr lang="zh-CN" altLang="en-US" sz="4400" dirty="0"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6" name="文本框">
            <a:extLst>
              <a:ext uri="{FF2B5EF4-FFF2-40B4-BE49-F238E27FC236}">
                <a16:creationId xmlns:a16="http://schemas.microsoft.com/office/drawing/2014/main" id="{12C29D20-F0AD-3010-FC8C-8441FC1A5018}"/>
              </a:ext>
            </a:extLst>
          </p:cNvPr>
          <p:cNvSpPr txBox="1">
            <a:spLocks/>
          </p:cNvSpPr>
          <p:nvPr/>
        </p:nvSpPr>
        <p:spPr>
          <a:xfrm>
            <a:off x="2895600" y="3588025"/>
            <a:ext cx="6400800" cy="56984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rtlCol="0" anchor="t" anchorCtr="0">
            <a:prstTxWarp prst="textNoShape">
              <a:avLst/>
            </a:prstTxWarp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898989"/>
                </a:solidFill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An NLP-Based Classification Framework</a:t>
            </a:r>
            <a:endParaRPr lang="zh-CN" altLang="en-US" dirty="0">
              <a:solidFill>
                <a:srgbClr val="898989"/>
              </a:solidFill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pic>
        <p:nvPicPr>
          <p:cNvPr id="7" name="图片">
            <a:extLst>
              <a:ext uri="{FF2B5EF4-FFF2-40B4-BE49-F238E27FC236}">
                <a16:creationId xmlns:a16="http://schemas.microsoft.com/office/drawing/2014/main" id="{620CA34F-718F-962F-D240-131D9060297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r="58028" b="57691"/>
          <a:stretch>
            <a:fillRect/>
          </a:stretch>
        </p:blipFill>
        <p:spPr>
          <a:xfrm rot="10800000">
            <a:off x="10346603" y="5025736"/>
            <a:ext cx="1934436" cy="19499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8" name="图片">
            <a:extLst>
              <a:ext uri="{FF2B5EF4-FFF2-40B4-BE49-F238E27FC236}">
                <a16:creationId xmlns:a16="http://schemas.microsoft.com/office/drawing/2014/main" id="{1821B8A0-4E1F-082B-F8E2-DD7CCA85409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r="58028" b="57691"/>
          <a:stretch>
            <a:fillRect/>
          </a:stretch>
        </p:blipFill>
        <p:spPr>
          <a:xfrm>
            <a:off x="-92760" y="-127119"/>
            <a:ext cx="1934436" cy="19499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CAF32B6-BBE6-EF01-F54A-687D0EDE4B3F}"/>
              </a:ext>
            </a:extLst>
          </p:cNvPr>
          <p:cNvCxnSpPr>
            <a:cxnSpLocks/>
          </p:cNvCxnSpPr>
          <p:nvPr/>
        </p:nvCxnSpPr>
        <p:spPr>
          <a:xfrm>
            <a:off x="3233530" y="4232897"/>
            <a:ext cx="58177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844BFE-ADFB-A8DB-E2A4-B2689EE04E26}"/>
              </a:ext>
            </a:extLst>
          </p:cNvPr>
          <p:cNvSpPr txBox="1"/>
          <p:nvPr/>
        </p:nvSpPr>
        <p:spPr>
          <a:xfrm>
            <a:off x="2209800" y="4422912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Yasawini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(23NG1A6150), Jaswitha (23NG1A6161)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Naveen Kumar(23NG1A6123), N. Sandeep Kumar(23NG1A6141)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55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EAE684A-A052-699C-14E0-3807FBD8F806}"/>
              </a:ext>
            </a:extLst>
          </p:cNvPr>
          <p:cNvSpPr txBox="1"/>
          <p:nvPr/>
        </p:nvSpPr>
        <p:spPr>
          <a:xfrm>
            <a:off x="1733550" y="1502702"/>
            <a:ext cx="793343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Abstract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Introduction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Implementation 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Data set</a:t>
            </a: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Algorithm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Architecture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Result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Conclusion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Future Scope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5999C7-535E-8B64-AEC8-1040F9DB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61"/>
          <a:stretch>
            <a:fillRect/>
          </a:stretch>
        </p:blipFill>
        <p:spPr>
          <a:xfrm>
            <a:off x="6852488" y="0"/>
            <a:ext cx="5335489" cy="6857997"/>
          </a:xfrm>
          <a:prstGeom prst="rect">
            <a:avLst/>
          </a:prstGeom>
        </p:spPr>
      </p:pic>
      <p:pic>
        <p:nvPicPr>
          <p:cNvPr id="2" name="图片">
            <a:extLst>
              <a:ext uri="{FF2B5EF4-FFF2-40B4-BE49-F238E27FC236}">
                <a16:creationId xmlns:a16="http://schemas.microsoft.com/office/drawing/2014/main" id="{2A1498AC-6836-0CAC-02DD-0D2C0BB4919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r="58028" b="57691"/>
          <a:stretch>
            <a:fillRect/>
          </a:stretch>
        </p:blipFill>
        <p:spPr>
          <a:xfrm rot="10800000">
            <a:off x="10346603" y="5025736"/>
            <a:ext cx="1934436" cy="19499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8" name="图片">
            <a:extLst>
              <a:ext uri="{FF2B5EF4-FFF2-40B4-BE49-F238E27FC236}">
                <a16:creationId xmlns:a16="http://schemas.microsoft.com/office/drawing/2014/main" id="{017970D9-2BC1-8056-4B7B-9A4DD3BE929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r="58028" b="57691"/>
          <a:stretch>
            <a:fillRect/>
          </a:stretch>
        </p:blipFill>
        <p:spPr>
          <a:xfrm>
            <a:off x="-92760" y="-127119"/>
            <a:ext cx="1934436" cy="19499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4115748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26DAF9D-0448-A478-C7F2-9DBE41E000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图片">
            <a:extLst>
              <a:ext uri="{FF2B5EF4-FFF2-40B4-BE49-F238E27FC236}">
                <a16:creationId xmlns:a16="http://schemas.microsoft.com/office/drawing/2014/main" id="{1BA4F574-76E5-00E0-0E0E-96E7FBDDE90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>
            <a:off x="-92760" y="-127119"/>
            <a:ext cx="1934436" cy="19499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3" name="图片">
            <a:extLst>
              <a:ext uri="{FF2B5EF4-FFF2-40B4-BE49-F238E27FC236}">
                <a16:creationId xmlns:a16="http://schemas.microsoft.com/office/drawing/2014/main" id="{E1EDD26E-C7BE-AC20-1CD2-06A136305D1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 rot="10800000">
            <a:off x="10346603" y="5025736"/>
            <a:ext cx="1934436" cy="19499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5" name="文本框">
            <a:extLst>
              <a:ext uri="{FF2B5EF4-FFF2-40B4-BE49-F238E27FC236}">
                <a16:creationId xmlns:a16="http://schemas.microsoft.com/office/drawing/2014/main" id="{BE17608E-8803-C110-E882-9C04EF928F5C}"/>
              </a:ext>
            </a:extLst>
          </p:cNvPr>
          <p:cNvSpPr txBox="1">
            <a:spLocks/>
          </p:cNvSpPr>
          <p:nvPr/>
        </p:nvSpPr>
        <p:spPr>
          <a:xfrm>
            <a:off x="-1265583" y="1308312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Abstract</a:t>
            </a:r>
            <a:endParaRPr lang="zh-CN" altLang="en-US" dirty="0"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6" name="文本框">
            <a:extLst>
              <a:ext uri="{FF2B5EF4-FFF2-40B4-BE49-F238E27FC236}">
                <a16:creationId xmlns:a16="http://schemas.microsoft.com/office/drawing/2014/main" id="{3E1EFCE2-F7F8-A7AC-6546-0DA59AAD3D98}"/>
              </a:ext>
            </a:extLst>
          </p:cNvPr>
          <p:cNvSpPr txBox="1">
            <a:spLocks/>
          </p:cNvSpPr>
          <p:nvPr/>
        </p:nvSpPr>
        <p:spPr>
          <a:xfrm>
            <a:off x="874458" y="2454020"/>
            <a:ext cx="10058585" cy="19499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Proposes a Modified Tern Frequency-Inverse Document Frequency approach for detecting cyberbullying.</a:t>
            </a:r>
          </a:p>
          <a:p>
            <a:pPr marL="342900" indent="-342900" algn="just">
              <a:lnSpc>
                <a:spcPct val="10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Integrated with Machine Learning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Optuna</a:t>
            </a:r>
            <a:r>
              <a:rPr lang="en-US" altLang="zh-CN" sz="2000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 hyperparameter optimization.</a:t>
            </a:r>
          </a:p>
          <a:p>
            <a:pPr marL="342900" indent="-342900" algn="just">
              <a:lnSpc>
                <a:spcPct val="10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Dataset: 47,692 tweets across six categories.</a:t>
            </a:r>
          </a:p>
          <a:p>
            <a:pPr marL="342900" indent="-342900" algn="just">
              <a:lnSpc>
                <a:spcPct val="10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Best accuracy: 83.82% with tuned LGBM classifier.</a:t>
            </a:r>
          </a:p>
          <a:p>
            <a:pPr marL="342900" indent="-342900" algn="just">
              <a:lnSpc>
                <a:spcPct val="10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Outperforms conventional NLP and ML methods.</a:t>
            </a:r>
            <a:endParaRPr lang="zh-CN" altLang="en-US" sz="2000" dirty="0"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75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9A49C1-6BF7-3855-7A5A-AE52DB1920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图片">
            <a:extLst>
              <a:ext uri="{FF2B5EF4-FFF2-40B4-BE49-F238E27FC236}">
                <a16:creationId xmlns:a16="http://schemas.microsoft.com/office/drawing/2014/main" id="{516C54E5-FE30-F3F7-CEDB-1A06E927EE2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>
            <a:off x="-92760" y="-127119"/>
            <a:ext cx="1934436" cy="19499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3" name="图片">
            <a:extLst>
              <a:ext uri="{FF2B5EF4-FFF2-40B4-BE49-F238E27FC236}">
                <a16:creationId xmlns:a16="http://schemas.microsoft.com/office/drawing/2014/main" id="{F334F09A-2B5B-384D-1FD0-8473DBC3E1E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 rot="10800000">
            <a:off x="10346603" y="5025736"/>
            <a:ext cx="1934436" cy="19499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9" name="文本框">
            <a:extLst>
              <a:ext uri="{FF2B5EF4-FFF2-40B4-BE49-F238E27FC236}">
                <a16:creationId xmlns:a16="http://schemas.microsoft.com/office/drawing/2014/main" id="{72FC5A43-4115-BA62-D36C-9098790603C2}"/>
              </a:ext>
            </a:extLst>
          </p:cNvPr>
          <p:cNvSpPr txBox="1">
            <a:spLocks/>
          </p:cNvSpPr>
          <p:nvPr/>
        </p:nvSpPr>
        <p:spPr>
          <a:xfrm>
            <a:off x="-640080" y="45751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11" name="文本框">
            <a:extLst>
              <a:ext uri="{FF2B5EF4-FFF2-40B4-BE49-F238E27FC236}">
                <a16:creationId xmlns:a16="http://schemas.microsoft.com/office/drawing/2014/main" id="{244AAAE8-7A5B-6F3B-2AA3-ABF9A3995F03}"/>
              </a:ext>
            </a:extLst>
          </p:cNvPr>
          <p:cNvSpPr txBox="1">
            <a:spLocks/>
          </p:cNvSpPr>
          <p:nvPr/>
        </p:nvSpPr>
        <p:spPr>
          <a:xfrm>
            <a:off x="874458" y="1908162"/>
            <a:ext cx="10805160" cy="311757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rapid growth of social media has led to an increase in harmful content, posing psychological threats to users.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human moderation is unsustainable due to the sheer volume of data and the speed of content generation.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Obstacles: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Imbalance: Cyberbullying is rare (minority class), biasing simple models.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Dimensionality: Text processing creates thousands of features, requiring specialized algorithms.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an intelligent, automated system to filter toxic content in real-time.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BADD1-BB61-7E90-9986-0441B12F4824}"/>
              </a:ext>
            </a:extLst>
          </p:cNvPr>
          <p:cNvSpPr txBox="1"/>
          <p:nvPr/>
        </p:nvSpPr>
        <p:spPr>
          <a:xfrm>
            <a:off x="2865783" y="1230868"/>
            <a:ext cx="6460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74903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11E5-B4DC-A9F7-B055-849CD415C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6D0124E-0776-3C31-F2D4-FE8436F1CC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图片">
            <a:extLst>
              <a:ext uri="{FF2B5EF4-FFF2-40B4-BE49-F238E27FC236}">
                <a16:creationId xmlns:a16="http://schemas.microsoft.com/office/drawing/2014/main" id="{F64C71AD-4FC0-071F-C2BC-DB6F20FB74A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>
            <a:off x="-92760" y="-127119"/>
            <a:ext cx="1934436" cy="19499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3" name="图片">
            <a:extLst>
              <a:ext uri="{FF2B5EF4-FFF2-40B4-BE49-F238E27FC236}">
                <a16:creationId xmlns:a16="http://schemas.microsoft.com/office/drawing/2014/main" id="{E8CA5AD7-4557-1805-C0BF-09582107BF6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 rot="10800000">
            <a:off x="10346603" y="5025736"/>
            <a:ext cx="1934436" cy="19499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2" name="文本框">
            <a:extLst>
              <a:ext uri="{FF2B5EF4-FFF2-40B4-BE49-F238E27FC236}">
                <a16:creationId xmlns:a16="http://schemas.microsoft.com/office/drawing/2014/main" id="{6F4451B5-43D3-82FE-FF0B-BA31734F3768}"/>
              </a:ext>
            </a:extLst>
          </p:cNvPr>
          <p:cNvSpPr txBox="1">
            <a:spLocks/>
          </p:cNvSpPr>
          <p:nvPr/>
        </p:nvSpPr>
        <p:spPr>
          <a:xfrm>
            <a:off x="-254444" y="45751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Implementation</a:t>
            </a:r>
            <a:endParaRPr lang="zh-CN" altLang="en-US" dirty="0"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93C4EF-0EB4-D771-CE5D-D03516CFC940}"/>
              </a:ext>
            </a:extLst>
          </p:cNvPr>
          <p:cNvSpPr txBox="1"/>
          <p:nvPr/>
        </p:nvSpPr>
        <p:spPr>
          <a:xfrm>
            <a:off x="3090736" y="1276087"/>
            <a:ext cx="635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A75FC6-24F6-374A-F0E2-7A08C8360789}"/>
              </a:ext>
            </a:extLst>
          </p:cNvPr>
          <p:cNvSpPr txBox="1"/>
          <p:nvPr/>
        </p:nvSpPr>
        <p:spPr>
          <a:xfrm>
            <a:off x="731517" y="1997839"/>
            <a:ext cx="110735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Labelled dataset based on real-world social media posts (e.g., Twitter data).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000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47,692 tweets (Age, Ethnicity, Gender, Religion, Other, None).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Characteristic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Severe Class Imbalance (Approx. 65% Non-Bullying vs. 35% Bullying).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&amp; Cleaning: Breaking text into words and removing noise (URLs,    mentions).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Removal: Eliminating non-informative words ('the', 'a', 'is’).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Stemming/Lemmatization: Normalizing words to their root form ('running' → 'run').</a:t>
            </a:r>
          </a:p>
        </p:txBody>
      </p:sp>
    </p:spTree>
    <p:extLst>
      <p:ext uri="{BB962C8B-B14F-4D97-AF65-F5344CB8AC3E}">
        <p14:creationId xmlns:p14="http://schemas.microsoft.com/office/powerpoint/2010/main" val="14018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A2F0-E8C2-BC23-1574-7ABE43B2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327346-B84C-4F70-8C28-F925E4A21352}"/>
              </a:ext>
            </a:extLst>
          </p:cNvPr>
          <p:cNvSpPr/>
          <p:nvPr/>
        </p:nvSpPr>
        <p:spPr>
          <a:xfrm>
            <a:off x="0" y="13252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图片">
            <a:extLst>
              <a:ext uri="{FF2B5EF4-FFF2-40B4-BE49-F238E27FC236}">
                <a16:creationId xmlns:a16="http://schemas.microsoft.com/office/drawing/2014/main" id="{B963F84F-3D68-1C50-895B-BFF5977B99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>
            <a:off x="-92760" y="-127119"/>
            <a:ext cx="1934436" cy="19499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3" name="图片">
            <a:extLst>
              <a:ext uri="{FF2B5EF4-FFF2-40B4-BE49-F238E27FC236}">
                <a16:creationId xmlns:a16="http://schemas.microsoft.com/office/drawing/2014/main" id="{4772D3A8-A630-8AE1-759E-F55E4280076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 rot="10800000">
            <a:off x="10346603" y="5025736"/>
            <a:ext cx="1934436" cy="19499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339C2B-B816-49A4-D5EC-0BF6E4E0DDE3}"/>
              </a:ext>
            </a:extLst>
          </p:cNvPr>
          <p:cNvSpPr txBox="1"/>
          <p:nvPr/>
        </p:nvSpPr>
        <p:spPr>
          <a:xfrm>
            <a:off x="4424401" y="1239477"/>
            <a:ext cx="6355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5EBEE4-5EAE-B24D-3E85-9CB0BEDFF2B8}"/>
              </a:ext>
            </a:extLst>
          </p:cNvPr>
          <p:cNvSpPr txBox="1"/>
          <p:nvPr/>
        </p:nvSpPr>
        <p:spPr>
          <a:xfrm>
            <a:off x="559241" y="2151727"/>
            <a:ext cx="1107351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TF-IDF (MTF-IDF)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Extraction / Vectorization.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assigns disproportionately higher weights to rare, context-specific toxic keywords, overcoming the dataset's imbalance problem.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Primary Classification Engine.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SVM?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optimal for text data, as it finds the best hyperplane to maximize the separation margin between the Bullying and Non-Bullying vectors in high-dimensional space.</a:t>
            </a:r>
          </a:p>
        </p:txBody>
      </p:sp>
      <p:sp>
        <p:nvSpPr>
          <p:cNvPr id="6" name="文本框">
            <a:extLst>
              <a:ext uri="{FF2B5EF4-FFF2-40B4-BE49-F238E27FC236}">
                <a16:creationId xmlns:a16="http://schemas.microsoft.com/office/drawing/2014/main" id="{F5FA4991-AF4A-F33F-B86C-A16700CA470A}"/>
              </a:ext>
            </a:extLst>
          </p:cNvPr>
          <p:cNvSpPr txBox="1">
            <a:spLocks/>
          </p:cNvSpPr>
          <p:nvPr/>
        </p:nvSpPr>
        <p:spPr>
          <a:xfrm>
            <a:off x="-254444" y="45751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Implementation</a:t>
            </a:r>
            <a:endParaRPr lang="zh-CN" altLang="en-US" dirty="0"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351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0CD140-6B1B-5B62-BCB6-7B073A7845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图片">
            <a:extLst>
              <a:ext uri="{FF2B5EF4-FFF2-40B4-BE49-F238E27FC236}">
                <a16:creationId xmlns:a16="http://schemas.microsoft.com/office/drawing/2014/main" id="{896E96F0-8B37-8DA2-5032-218453F9A12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>
            <a:off x="-92760" y="-127119"/>
            <a:ext cx="1934436" cy="19499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3" name="图片">
            <a:extLst>
              <a:ext uri="{FF2B5EF4-FFF2-40B4-BE49-F238E27FC236}">
                <a16:creationId xmlns:a16="http://schemas.microsoft.com/office/drawing/2014/main" id="{B98DB4B0-9A3C-AFA1-0DF4-D453567B337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 rot="10800000">
            <a:off x="10346603" y="5025736"/>
            <a:ext cx="1934436" cy="19499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ADD6BB-62BA-9333-081F-C5DB2F502E0B}"/>
              </a:ext>
            </a:extLst>
          </p:cNvPr>
          <p:cNvSpPr txBox="1"/>
          <p:nvPr/>
        </p:nvSpPr>
        <p:spPr>
          <a:xfrm>
            <a:off x="2748175" y="1502688"/>
            <a:ext cx="87944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Layer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React, HTML, and Tailwind CSS (runs in the user's browser).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types the text (e.g., a tweet) into the input field on the Live Demo page.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React component captures the text and initiates a request to the server.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browser sends the raw text via a JSON POST request to the API endpoint (/predict)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5E577-3080-A889-4BCF-532DFB8D850E}"/>
              </a:ext>
            </a:extLst>
          </p:cNvPr>
          <p:cNvSpPr txBox="1"/>
          <p:nvPr/>
        </p:nvSpPr>
        <p:spPr>
          <a:xfrm>
            <a:off x="781692" y="3441680"/>
            <a:ext cx="1076095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Layer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and the Flask framework (runs on the server).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Acts as the communication bridge, receiving the request from the browser and routing it to the machine learning model.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Flask-CORS to allow secure communication between the frontend (Client) and the backend (Server).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API extracts the raw text from the JSON request body and passes it to the ML processing pipeline.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ED2477-CD55-C790-F788-C6944793D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817604"/>
            <a:ext cx="2840935" cy="2840935"/>
          </a:xfrm>
          <a:prstGeom prst="rect">
            <a:avLst/>
          </a:prstGeom>
        </p:spPr>
      </p:pic>
      <p:sp>
        <p:nvSpPr>
          <p:cNvPr id="11" name="文本框">
            <a:extLst>
              <a:ext uri="{FF2B5EF4-FFF2-40B4-BE49-F238E27FC236}">
                <a16:creationId xmlns:a16="http://schemas.microsoft.com/office/drawing/2014/main" id="{B566897E-403E-1316-2622-F35D89E76DB4}"/>
              </a:ext>
            </a:extLst>
          </p:cNvPr>
          <p:cNvSpPr txBox="1">
            <a:spLocks/>
          </p:cNvSpPr>
          <p:nvPr/>
        </p:nvSpPr>
        <p:spPr>
          <a:xfrm>
            <a:off x="-254444" y="45751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Architecture</a:t>
            </a:r>
            <a:endParaRPr lang="zh-CN" altLang="en-US" dirty="0"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96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5A9E1E5-0ED1-891F-9FA5-E59C222B4CF0}"/>
              </a:ext>
            </a:extLst>
          </p:cNvPr>
          <p:cNvGrpSpPr/>
          <p:nvPr/>
        </p:nvGrpSpPr>
        <p:grpSpPr>
          <a:xfrm>
            <a:off x="-92760" y="-127119"/>
            <a:ext cx="12373799" cy="7102813"/>
            <a:chOff x="-92760" y="-127119"/>
            <a:chExt cx="12373799" cy="71028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25BEA0D-FC5B-5CCF-4F59-584A2A843D4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" name="图片">
              <a:extLst>
                <a:ext uri="{FF2B5EF4-FFF2-40B4-BE49-F238E27FC236}">
                  <a16:creationId xmlns:a16="http://schemas.microsoft.com/office/drawing/2014/main" id="{F7C88B24-5919-4C7E-3082-53A202AC1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>
              <a:off x="-92760" y="-127119"/>
              <a:ext cx="1934436" cy="194995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3" name="图片">
              <a:extLst>
                <a:ext uri="{FF2B5EF4-FFF2-40B4-BE49-F238E27FC236}">
                  <a16:creationId xmlns:a16="http://schemas.microsoft.com/office/drawing/2014/main" id="{B661620F-39FA-0DA6-15C9-4E637C82B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 rot="10800000">
              <a:off x="10346603" y="5025736"/>
              <a:ext cx="1934436" cy="1949958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78D9E1B-8D92-BBD1-B6BF-0F9BF192CE79}"/>
              </a:ext>
            </a:extLst>
          </p:cNvPr>
          <p:cNvSpPr txBox="1"/>
          <p:nvPr/>
        </p:nvSpPr>
        <p:spPr>
          <a:xfrm>
            <a:off x="874458" y="1373149"/>
            <a:ext cx="106481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Core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computational heart of the system.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raw text is first cleaned (Tokenization,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Removal) and then transformed into a numerical vector using the innovative Modified TF-IDF (MTF-IDF) algorithm.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feature vector is immediately fed into the pre-trained Support Vector Machine (SVM) model for classification.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6307A-68B0-4422-6450-E99A632E8DD5}"/>
              </a:ext>
            </a:extLst>
          </p:cNvPr>
          <p:cNvSpPr txBox="1"/>
          <p:nvPr/>
        </p:nvSpPr>
        <p:spPr>
          <a:xfrm>
            <a:off x="874458" y="3429000"/>
            <a:ext cx="1064812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SVM model generates a prediction (Bully or Non-Bully) and a confidence score.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result is immediately packaged by the Flask server into a JSON response and sent back to the Frontend.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React application receives the JSON and dynamically updates the UI to display the final, real-time classification result to the user.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7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54D885-25AF-36C3-C47C-55A542B2BF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图片">
            <a:extLst>
              <a:ext uri="{FF2B5EF4-FFF2-40B4-BE49-F238E27FC236}">
                <a16:creationId xmlns:a16="http://schemas.microsoft.com/office/drawing/2014/main" id="{DC7512AD-9A16-CDF1-0766-62F87199DB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>
            <a:off x="-92760" y="-127119"/>
            <a:ext cx="1934436" cy="194995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3" name="图片">
            <a:extLst>
              <a:ext uri="{FF2B5EF4-FFF2-40B4-BE49-F238E27FC236}">
                <a16:creationId xmlns:a16="http://schemas.microsoft.com/office/drawing/2014/main" id="{CCF2F4E7-3BCE-D266-403F-687B62D7E01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58028" b="57691"/>
          <a:stretch>
            <a:fillRect/>
          </a:stretch>
        </p:blipFill>
        <p:spPr>
          <a:xfrm rot="10800000">
            <a:off x="10346603" y="5025736"/>
            <a:ext cx="1934436" cy="194995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1026" name="Picture 2" descr="NLP classification pipeline with feature extraction and classification stages">
            <a:extLst>
              <a:ext uri="{FF2B5EF4-FFF2-40B4-BE49-F238E27FC236}">
                <a16:creationId xmlns:a16="http://schemas.microsoft.com/office/drawing/2014/main" id="{E9FE2F28-826A-4E7C-E15B-61DF53FE5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269" y="291563"/>
            <a:ext cx="6419461" cy="481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4E4BD7-FA49-7325-F792-D18343DC1C11}"/>
              </a:ext>
            </a:extLst>
          </p:cNvPr>
          <p:cNvSpPr txBox="1"/>
          <p:nvPr/>
        </p:nvSpPr>
        <p:spPr>
          <a:xfrm>
            <a:off x="1232263" y="5197667"/>
            <a:ext cx="9727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classification pipeline with feature extraction and classification stages</a:t>
            </a:r>
          </a:p>
        </p:txBody>
      </p:sp>
    </p:spTree>
    <p:extLst>
      <p:ext uri="{BB962C8B-B14F-4D97-AF65-F5344CB8AC3E}">
        <p14:creationId xmlns:p14="http://schemas.microsoft.com/office/powerpoint/2010/main" val="110992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97652F0-B441-E7C4-9F00-316B11C96D69}"/>
              </a:ext>
            </a:extLst>
          </p:cNvPr>
          <p:cNvGrpSpPr/>
          <p:nvPr/>
        </p:nvGrpSpPr>
        <p:grpSpPr>
          <a:xfrm>
            <a:off x="-92760" y="-127119"/>
            <a:ext cx="12373799" cy="7102813"/>
            <a:chOff x="-92760" y="-127119"/>
            <a:chExt cx="12373799" cy="710281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9390B52-4B37-783B-2457-E1595779CEA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pic>
          <p:nvPicPr>
            <p:cNvPr id="4" name="图片">
              <a:extLst>
                <a:ext uri="{FF2B5EF4-FFF2-40B4-BE49-F238E27FC236}">
                  <a16:creationId xmlns:a16="http://schemas.microsoft.com/office/drawing/2014/main" id="{3B8AE73A-BF60-7591-4A0C-DA29046D1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>
              <a:off x="-92760" y="-127119"/>
              <a:ext cx="1934436" cy="194995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5" name="图片">
              <a:extLst>
                <a:ext uri="{FF2B5EF4-FFF2-40B4-BE49-F238E27FC236}">
                  <a16:creationId xmlns:a16="http://schemas.microsoft.com/office/drawing/2014/main" id="{2CA8AA4B-9AD9-A175-2B6B-7B0029173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 rot="10800000">
              <a:off x="10346603" y="5025736"/>
              <a:ext cx="1934436" cy="1949958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</p:grpSp>
      <p:sp>
        <p:nvSpPr>
          <p:cNvPr id="6" name="文本框">
            <a:extLst>
              <a:ext uri="{FF2B5EF4-FFF2-40B4-BE49-F238E27FC236}">
                <a16:creationId xmlns:a16="http://schemas.microsoft.com/office/drawing/2014/main" id="{C3E23337-CC47-741B-D84C-10F79A8C003D}"/>
              </a:ext>
            </a:extLst>
          </p:cNvPr>
          <p:cNvSpPr txBox="1">
            <a:spLocks/>
          </p:cNvSpPr>
          <p:nvPr/>
        </p:nvSpPr>
        <p:spPr>
          <a:xfrm>
            <a:off x="-1765193" y="322029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Result</a:t>
            </a:r>
            <a:endParaRPr lang="zh-CN" altLang="en-US" dirty="0"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2B6772-BFE0-75D2-A02C-D4E9EDF7719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9"/>
          <a:stretch>
            <a:fillRect/>
          </a:stretch>
        </p:blipFill>
        <p:spPr>
          <a:xfrm>
            <a:off x="2620586" y="13252"/>
            <a:ext cx="6858000" cy="6639339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A4C0A6-67F1-D9B8-F92A-050F404E27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68" t="5732" r="3327"/>
          <a:stretch>
            <a:fillRect/>
          </a:stretch>
        </p:blipFill>
        <p:spPr>
          <a:xfrm>
            <a:off x="756213" y="1412023"/>
            <a:ext cx="7238613" cy="39524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91F1B1-8F89-636F-6BF7-82C1C46EC9A1}"/>
              </a:ext>
            </a:extLst>
          </p:cNvPr>
          <p:cNvSpPr txBox="1"/>
          <p:nvPr/>
        </p:nvSpPr>
        <p:spPr>
          <a:xfrm>
            <a:off x="8136840" y="2653749"/>
            <a:ext cx="3933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MTF-IDF-SVM framework achieved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97.10% accuracy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against three established baseline algorithms (Naive Bayes, Random Forest, Logistic Regression).</a:t>
            </a:r>
          </a:p>
        </p:txBody>
      </p:sp>
    </p:spTree>
    <p:extLst>
      <p:ext uri="{BB962C8B-B14F-4D97-AF65-F5344CB8AC3E}">
        <p14:creationId xmlns:p14="http://schemas.microsoft.com/office/powerpoint/2010/main" val="3601096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15F112-F573-2D2F-AD7E-B653E5626F3F}"/>
              </a:ext>
            </a:extLst>
          </p:cNvPr>
          <p:cNvGrpSpPr/>
          <p:nvPr/>
        </p:nvGrpSpPr>
        <p:grpSpPr>
          <a:xfrm>
            <a:off x="-92760" y="-127119"/>
            <a:ext cx="12373799" cy="7102813"/>
            <a:chOff x="-92760" y="-127119"/>
            <a:chExt cx="12373799" cy="710281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72EFCC9-20C9-6604-7E8C-12E9A676B8B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pic>
          <p:nvPicPr>
            <p:cNvPr id="4" name="图片">
              <a:extLst>
                <a:ext uri="{FF2B5EF4-FFF2-40B4-BE49-F238E27FC236}">
                  <a16:creationId xmlns:a16="http://schemas.microsoft.com/office/drawing/2014/main" id="{74B267E4-965D-3667-1049-7D7BA6E51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>
              <a:off x="-92760" y="-127119"/>
              <a:ext cx="1934436" cy="194995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5" name="图片">
              <a:extLst>
                <a:ext uri="{FF2B5EF4-FFF2-40B4-BE49-F238E27FC236}">
                  <a16:creationId xmlns:a16="http://schemas.microsoft.com/office/drawing/2014/main" id="{D493DFD5-621F-0EE1-8709-D69F9CAFD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 rot="10800000">
              <a:off x="10346603" y="5025736"/>
              <a:ext cx="1934436" cy="1949958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A178912-9375-0243-053F-A8D9E7F0DF8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9"/>
          <a:stretch>
            <a:fillRect/>
          </a:stretch>
        </p:blipFill>
        <p:spPr>
          <a:xfrm>
            <a:off x="2620586" y="13252"/>
            <a:ext cx="6858000" cy="6639339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182C0A-02AA-CFFA-664D-45B546973937}"/>
              </a:ext>
            </a:extLst>
          </p:cNvPr>
          <p:cNvSpPr txBox="1"/>
          <p:nvPr/>
        </p:nvSpPr>
        <p:spPr>
          <a:xfrm>
            <a:off x="1752569" y="2428726"/>
            <a:ext cx="859403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Successfully implemented and validated a robust NLP solution for cyberbullying detection. The Takeaway strategic pairing of MTF-IDF and SVM effectively addressed the technical challenges of class imbalance and high dimensionality. The Impact in the system is highly reliable, scalable, and immediately applicable for real-time content moderation on major platforms.</a:t>
            </a:r>
          </a:p>
        </p:txBody>
      </p:sp>
    </p:spTree>
    <p:extLst>
      <p:ext uri="{BB962C8B-B14F-4D97-AF65-F5344CB8AC3E}">
        <p14:creationId xmlns:p14="http://schemas.microsoft.com/office/powerpoint/2010/main" val="3003359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6FDBB47-6717-7FBF-B47C-C364E554ACB3}"/>
              </a:ext>
            </a:extLst>
          </p:cNvPr>
          <p:cNvGrpSpPr/>
          <p:nvPr/>
        </p:nvGrpSpPr>
        <p:grpSpPr>
          <a:xfrm>
            <a:off x="-92760" y="-127119"/>
            <a:ext cx="12373799" cy="7102813"/>
            <a:chOff x="-92760" y="-127119"/>
            <a:chExt cx="12373799" cy="710281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F4F43A1-AB94-19B0-B67B-A2066F7E2C83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" name="图片">
              <a:extLst>
                <a:ext uri="{FF2B5EF4-FFF2-40B4-BE49-F238E27FC236}">
                  <a16:creationId xmlns:a16="http://schemas.microsoft.com/office/drawing/2014/main" id="{0005C618-EA5C-5982-A5AC-BFE525C18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>
              <a:off x="-92760" y="-127119"/>
              <a:ext cx="1934436" cy="194995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5" name="图片">
              <a:extLst>
                <a:ext uri="{FF2B5EF4-FFF2-40B4-BE49-F238E27FC236}">
                  <a16:creationId xmlns:a16="http://schemas.microsoft.com/office/drawing/2014/main" id="{CA43A5C9-04F9-61CE-D273-D5418E407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 rot="10800000">
              <a:off x="10346603" y="5025736"/>
              <a:ext cx="1934436" cy="1949958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7045E25-FDEE-D117-634A-F94AAAA4AD6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9"/>
          <a:stretch>
            <a:fillRect/>
          </a:stretch>
        </p:blipFill>
        <p:spPr>
          <a:xfrm>
            <a:off x="2620586" y="0"/>
            <a:ext cx="6858000" cy="6639339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89F44D-C3BD-F822-7960-A505F84E0AFD}"/>
              </a:ext>
            </a:extLst>
          </p:cNvPr>
          <p:cNvSpPr txBox="1"/>
          <p:nvPr/>
        </p:nvSpPr>
        <p:spPr>
          <a:xfrm>
            <a:off x="1169505" y="1861919"/>
            <a:ext cx="985299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Migrate to LSTM or BERT models.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DL is better at understanding context, sarcasm, and subtle threats that are missed by keyword-based methods.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Multi-Lingual Support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Extend the framework to detect toxicity in other languages (e.g., Hindi, regional languages).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Severity Scoring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Add a layer to classify the intensity of the negative sentiment (Low, Medium, High), moving beyond simple binary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760746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D1BCD19-0DCA-E346-A021-FA168EAF1BA7}"/>
              </a:ext>
            </a:extLst>
          </p:cNvPr>
          <p:cNvGrpSpPr/>
          <p:nvPr/>
        </p:nvGrpSpPr>
        <p:grpSpPr>
          <a:xfrm>
            <a:off x="-92760" y="-127119"/>
            <a:ext cx="12373799" cy="7102813"/>
            <a:chOff x="-92760" y="-127119"/>
            <a:chExt cx="12373799" cy="710281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2206C8-401F-B714-DD05-B10503EF9D9A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4" name="图片">
              <a:extLst>
                <a:ext uri="{FF2B5EF4-FFF2-40B4-BE49-F238E27FC236}">
                  <a16:creationId xmlns:a16="http://schemas.microsoft.com/office/drawing/2014/main" id="{7A26F28F-5CB5-B350-C3D0-46A63B3B8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>
              <a:off x="-92760" y="-127119"/>
              <a:ext cx="1934436" cy="1949959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  <p:pic>
          <p:nvPicPr>
            <p:cNvPr id="5" name="图片">
              <a:extLst>
                <a:ext uri="{FF2B5EF4-FFF2-40B4-BE49-F238E27FC236}">
                  <a16:creationId xmlns:a16="http://schemas.microsoft.com/office/drawing/2014/main" id="{14B8F63C-84AB-1CA7-98FD-4019FC747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 r="58028" b="57691"/>
            <a:stretch>
              <a:fillRect/>
            </a:stretch>
          </p:blipFill>
          <p:spPr>
            <a:xfrm rot="10800000">
              <a:off x="10346603" y="5025736"/>
              <a:ext cx="1934436" cy="1949958"/>
            </a:xfrm>
            <a:prstGeom prst="rect">
              <a:avLst/>
            </a:prstGeom>
            <a:noFill/>
            <a:ln w="12700" cap="flat" cmpd="sng">
              <a:noFill/>
              <a:prstDash val="solid"/>
              <a:miter/>
            </a:ln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B8E62D4-2192-1846-9959-292807952E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9"/>
          <a:stretch>
            <a:fillRect/>
          </a:stretch>
        </p:blipFill>
        <p:spPr>
          <a:xfrm>
            <a:off x="2620586" y="0"/>
            <a:ext cx="6858000" cy="6639339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7" name="文本框">
            <a:extLst>
              <a:ext uri="{FF2B5EF4-FFF2-40B4-BE49-F238E27FC236}">
                <a16:creationId xmlns:a16="http://schemas.microsoft.com/office/drawing/2014/main" id="{DBCEAD84-E5B4-0EC9-CDC9-29F9ECBE90C8}"/>
              </a:ext>
            </a:extLst>
          </p:cNvPr>
          <p:cNvSpPr txBox="1">
            <a:spLocks/>
          </p:cNvSpPr>
          <p:nvPr/>
        </p:nvSpPr>
        <p:spPr>
          <a:xfrm>
            <a:off x="1981200" y="2748169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charset="0"/>
                <a:cs typeface="Times New Roman" panose="02020603050405020304" pitchFamily="18" charset="0"/>
              </a:rPr>
              <a:t>Thank You</a:t>
            </a:r>
            <a:endParaRPr lang="zh-CN" altLang="en-US" dirty="0">
              <a:latin typeface="Times New Roman" panose="02020603050405020304" pitchFamily="18" charset="0"/>
              <a:ea typeface="宋体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537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837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NAVEEN SaI</dc:creator>
  <cp:lastModifiedBy>NAVEEN SaI</cp:lastModifiedBy>
  <cp:revision>7</cp:revision>
  <dcterms:created xsi:type="dcterms:W3CDTF">2025-11-30T10:44:20Z</dcterms:created>
  <dcterms:modified xsi:type="dcterms:W3CDTF">2025-12-16T14:15:18Z</dcterms:modified>
</cp:coreProperties>
</file>